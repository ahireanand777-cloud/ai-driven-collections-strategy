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2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140A-08C8-4D98-9FBB-3CBFAC732730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B6367-A578-423E-AF39-F86317046B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140A-08C8-4D98-9FBB-3CBFAC732730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B6367-A578-423E-AF39-F86317046B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140A-08C8-4D98-9FBB-3CBFAC732730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B6367-A578-423E-AF39-F86317046B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140A-08C8-4D98-9FBB-3CBFAC732730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B6367-A578-423E-AF39-F86317046B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140A-08C8-4D98-9FBB-3CBFAC732730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B6367-A578-423E-AF39-F86317046B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140A-08C8-4D98-9FBB-3CBFAC732730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B6367-A578-423E-AF39-F86317046B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140A-08C8-4D98-9FBB-3CBFAC732730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B6367-A578-423E-AF39-F86317046B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140A-08C8-4D98-9FBB-3CBFAC732730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B6367-A578-423E-AF39-F86317046BB9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140A-08C8-4D98-9FBB-3CBFAC732730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89B6367-A578-423E-AF39-F86317046BB9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140A-08C8-4D98-9FBB-3CBFAC732730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B6367-A578-423E-AF39-F86317046B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140A-08C8-4D98-9FBB-3CBFAC732730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B6367-A578-423E-AF39-F86317046B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A89B6367-A578-423E-AF39-F86317046BB9}" type="slidenum">
              <a:rPr lang="en-IN" smtClean="0"/>
              <a:t>‹#›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483B140A-08C8-4D98-9FBB-3CBFAC732730}" type="datetimeFigureOut">
              <a:rPr lang="en-IN" smtClean="0"/>
              <a:t>19-05-2026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980728"/>
            <a:ext cx="7772400" cy="1467594"/>
          </a:xfrm>
        </p:spPr>
        <p:txBody>
          <a:bodyPr>
            <a:noAutofit/>
          </a:bodyPr>
          <a:lstStyle/>
          <a:p>
            <a:r>
              <a:rPr lang="en-GB" sz="4000" b="1" dirty="0" smtClean="0"/>
              <a:t>AI-Driven Collections Strategy for </a:t>
            </a:r>
            <a:r>
              <a:rPr lang="en-GB" sz="4000" b="1" dirty="0" err="1" smtClean="0"/>
              <a:t>Geldium</a:t>
            </a:r>
            <a:endParaRPr lang="en-IN" sz="4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3212976"/>
            <a:ext cx="8496944" cy="1944216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chemeClr val="tx1"/>
                </a:solidFill>
              </a:rPr>
              <a:t>Prepared for: </a:t>
            </a:r>
            <a:r>
              <a:rPr lang="en-GB" dirty="0" smtClean="0">
                <a:solidFill>
                  <a:schemeClr val="tx1"/>
                </a:solidFill>
              </a:rPr>
              <a:t>Tata </a:t>
            </a:r>
            <a:r>
              <a:rPr lang="en-GB" dirty="0" err="1" smtClean="0">
                <a:solidFill>
                  <a:schemeClr val="tx1"/>
                </a:solidFill>
              </a:rPr>
              <a:t>iQ</a:t>
            </a:r>
            <a:r>
              <a:rPr lang="en-GB" dirty="0" smtClean="0">
                <a:solidFill>
                  <a:schemeClr val="tx1"/>
                </a:solidFill>
              </a:rPr>
              <a:t> Virtual Experience Program </a:t>
            </a:r>
          </a:p>
          <a:p>
            <a:r>
              <a:rPr lang="en-GB" b="1" dirty="0" smtClean="0">
                <a:solidFill>
                  <a:schemeClr val="tx1"/>
                </a:solidFill>
              </a:rPr>
              <a:t>Prepared by: </a:t>
            </a:r>
            <a:r>
              <a:rPr lang="en-GB" dirty="0" err="1" smtClean="0">
                <a:solidFill>
                  <a:schemeClr val="tx1"/>
                </a:solidFill>
              </a:rPr>
              <a:t>Anand</a:t>
            </a:r>
            <a:r>
              <a:rPr lang="en-GB" dirty="0" smtClean="0">
                <a:solidFill>
                  <a:schemeClr val="tx1"/>
                </a:solidFill>
              </a:rPr>
              <a:t> </a:t>
            </a:r>
            <a:r>
              <a:rPr lang="en-GB" dirty="0" err="1" smtClean="0">
                <a:solidFill>
                  <a:schemeClr val="tx1"/>
                </a:solidFill>
              </a:rPr>
              <a:t>Shivdas</a:t>
            </a:r>
            <a:r>
              <a:rPr lang="en-GB" dirty="0" smtClean="0">
                <a:solidFill>
                  <a:schemeClr val="tx1"/>
                </a:solidFill>
              </a:rPr>
              <a:t> </a:t>
            </a:r>
            <a:r>
              <a:rPr lang="en-GB" dirty="0" err="1" smtClean="0">
                <a:solidFill>
                  <a:schemeClr val="tx1"/>
                </a:solidFill>
              </a:rPr>
              <a:t>Ahire</a:t>
            </a:r>
            <a:r>
              <a:rPr lang="en-GB" dirty="0" smtClean="0">
                <a:solidFill>
                  <a:schemeClr val="tx1"/>
                </a:solidFill>
              </a:rPr>
              <a:t/>
            </a:r>
            <a:br>
              <a:rPr lang="en-GB" dirty="0" smtClean="0">
                <a:solidFill>
                  <a:schemeClr val="tx1"/>
                </a:solidFill>
              </a:rPr>
            </a:br>
            <a:r>
              <a:rPr lang="en-GB" b="1" dirty="0" smtClean="0">
                <a:solidFill>
                  <a:schemeClr val="tx1"/>
                </a:solidFill>
              </a:rPr>
              <a:t>Date: </a:t>
            </a:r>
            <a:r>
              <a:rPr lang="en-GB" dirty="0" smtClean="0">
                <a:solidFill>
                  <a:schemeClr val="tx1"/>
                </a:solidFill>
              </a:rPr>
              <a:t>19 May 2026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618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616"/>
            <a:ext cx="8229600" cy="1143000"/>
          </a:xfrm>
        </p:spPr>
        <p:txBody>
          <a:bodyPr>
            <a:noAutofit/>
          </a:bodyPr>
          <a:lstStyle/>
          <a:p>
            <a:r>
              <a:rPr lang="en-GB" sz="3600" b="1" dirty="0" smtClean="0"/>
              <a:t>How the AI Collections System Works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589240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 smtClean="0">
                <a:latin typeface="Calibri" pitchFamily="34" charset="0"/>
                <a:cs typeface="Calibri" pitchFamily="34" charset="0"/>
              </a:rPr>
              <a:t>Flow Diagram:</a:t>
            </a:r>
            <a:endParaRPr lang="en-GB" sz="2000" dirty="0" smtClean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GB" sz="2000" dirty="0" smtClean="0">
                <a:latin typeface="Calibri" pitchFamily="34" charset="0"/>
                <a:cs typeface="Calibri" pitchFamily="34" charset="0"/>
              </a:rPr>
              <a:t>       </a:t>
            </a: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Customer Data    → </a:t>
            </a: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       Prediction Model </a:t>
            </a: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/>
            </a:r>
            <a:b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</a:b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                          </a:t>
            </a: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                                    ↓ 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                                             </a:t>
            </a: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   Risk Segmentation</a:t>
            </a:r>
            <a:b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</a:b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                                                              ↓</a:t>
            </a:r>
            <a:b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</a:b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                                       Automated Collection Actions</a:t>
            </a:r>
            <a:b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</a:b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                                                              ↓</a:t>
            </a:r>
            <a:b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</a:b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                                           Learning &amp; Monitoring</a:t>
            </a:r>
            <a:r>
              <a:rPr lang="en-GB" sz="2000" dirty="0" smtClean="0">
                <a:latin typeface="Calibri" pitchFamily="34" charset="0"/>
                <a:cs typeface="Calibri" pitchFamily="34" charset="0"/>
              </a:rPr>
              <a:t/>
            </a:r>
            <a:br>
              <a:rPr lang="en-GB" sz="2000" dirty="0" smtClean="0">
                <a:latin typeface="Calibri" pitchFamily="34" charset="0"/>
                <a:cs typeface="Calibri" pitchFamily="34" charset="0"/>
              </a:rPr>
            </a:br>
            <a:endParaRPr lang="en-GB" sz="2000" dirty="0" smtClean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GB" sz="2000" b="1" dirty="0" smtClean="0">
                <a:latin typeface="Calibri" pitchFamily="34" charset="0"/>
                <a:cs typeface="Calibri" pitchFamily="34" charset="0"/>
              </a:rPr>
              <a:t>Small bullets under diagram:</a:t>
            </a:r>
          </a:p>
          <a:p>
            <a:r>
              <a:rPr lang="en-GB" sz="2000" dirty="0" smtClean="0">
                <a:latin typeface="Calibri" pitchFamily="34" charset="0"/>
                <a:cs typeface="Calibri" pitchFamily="34" charset="0"/>
              </a:rPr>
              <a:t>Customer repayment and financial data are collected. </a:t>
            </a:r>
          </a:p>
          <a:p>
            <a:r>
              <a:rPr lang="en-GB" sz="2000" dirty="0" smtClean="0">
                <a:latin typeface="Calibri" pitchFamily="34" charset="0"/>
                <a:cs typeface="Calibri" pitchFamily="34" charset="0"/>
              </a:rPr>
              <a:t>Logistic Regression predicts delinquency probability. </a:t>
            </a:r>
          </a:p>
          <a:p>
            <a:r>
              <a:rPr lang="en-GB" sz="2000" dirty="0" smtClean="0">
                <a:latin typeface="Calibri" pitchFamily="34" charset="0"/>
                <a:cs typeface="Calibri" pitchFamily="34" charset="0"/>
              </a:rPr>
              <a:t>Customers are grouped into low, medium, and high-risk categories. </a:t>
            </a:r>
          </a:p>
          <a:p>
            <a:r>
              <a:rPr lang="en-GB" sz="2000" dirty="0" smtClean="0">
                <a:latin typeface="Calibri" pitchFamily="34" charset="0"/>
                <a:cs typeface="Calibri" pitchFamily="34" charset="0"/>
              </a:rPr>
              <a:t>Automated reminders and outreach actions are triggered. </a:t>
            </a:r>
          </a:p>
          <a:p>
            <a:r>
              <a:rPr lang="en-GB" sz="2000" dirty="0" smtClean="0">
                <a:latin typeface="Calibri" pitchFamily="34" charset="0"/>
                <a:cs typeface="Calibri" pitchFamily="34" charset="0"/>
              </a:rPr>
              <a:t>System continuously improves using repayment outcomes.</a:t>
            </a:r>
          </a:p>
        </p:txBody>
      </p:sp>
    </p:spTree>
    <p:extLst>
      <p:ext uri="{BB962C8B-B14F-4D97-AF65-F5344CB8AC3E}">
        <p14:creationId xmlns:p14="http://schemas.microsoft.com/office/powerpoint/2010/main" val="125441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1143000"/>
          </a:xfrm>
        </p:spPr>
        <p:txBody>
          <a:bodyPr>
            <a:noAutofit/>
          </a:bodyPr>
          <a:lstStyle/>
          <a:p>
            <a:r>
              <a:rPr lang="en-GB" sz="4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Autonomous </a:t>
            </a:r>
            <a:r>
              <a:rPr lang="en-GB" sz="40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vs</a:t>
            </a:r>
            <a:r>
              <a:rPr lang="en-GB" sz="4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Human Oversight Activities</a:t>
            </a:r>
            <a:endParaRPr lang="en-IN" sz="4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688" y="1700808"/>
            <a:ext cx="4245868" cy="639762"/>
          </a:xfrm>
        </p:spPr>
        <p:txBody>
          <a:bodyPr>
            <a:normAutofit/>
          </a:bodyPr>
          <a:lstStyle/>
          <a:p>
            <a:r>
              <a:rPr lang="en-GB" dirty="0" smtClean="0"/>
              <a:t>Autonomous AI Activities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8408" y="2348880"/>
            <a:ext cx="4248472" cy="2766293"/>
          </a:xfrm>
        </p:spPr>
        <p:txBody>
          <a:bodyPr/>
          <a:lstStyle/>
          <a:p>
            <a:r>
              <a:rPr lang="en-GB" dirty="0" smtClean="0"/>
              <a:t>Risk scoring</a:t>
            </a:r>
          </a:p>
          <a:p>
            <a:r>
              <a:rPr lang="en-GB" dirty="0" smtClean="0"/>
              <a:t>SMS reminders</a:t>
            </a:r>
          </a:p>
          <a:p>
            <a:r>
              <a:rPr lang="en-GB" dirty="0" smtClean="0"/>
              <a:t>Customer segmentation</a:t>
            </a:r>
          </a:p>
          <a:p>
            <a:r>
              <a:rPr lang="en-GB" dirty="0" smtClean="0"/>
              <a:t>Payment tracking</a:t>
            </a:r>
          </a:p>
          <a:p>
            <a:r>
              <a:rPr lang="en-GB" dirty="0" smtClean="0"/>
              <a:t>Report generation</a:t>
            </a:r>
          </a:p>
          <a:p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27984" y="1700808"/>
            <a:ext cx="4247455" cy="639762"/>
          </a:xfrm>
        </p:spPr>
        <p:txBody>
          <a:bodyPr>
            <a:normAutofit/>
          </a:bodyPr>
          <a:lstStyle/>
          <a:p>
            <a:r>
              <a:rPr lang="en-GB" dirty="0" smtClean="0"/>
              <a:t>Human Oversight Activities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27984" y="2348880"/>
            <a:ext cx="4175447" cy="2694285"/>
          </a:xfrm>
        </p:spPr>
        <p:txBody>
          <a:bodyPr>
            <a:normAutofit/>
          </a:bodyPr>
          <a:lstStyle/>
          <a:p>
            <a:r>
              <a:rPr lang="en-GB" dirty="0" smtClean="0"/>
              <a:t>Review high-risk accounts</a:t>
            </a:r>
          </a:p>
          <a:p>
            <a:r>
              <a:rPr lang="en-GB" dirty="0" smtClean="0"/>
              <a:t>Final escalation decisions</a:t>
            </a:r>
          </a:p>
          <a:p>
            <a:r>
              <a:rPr lang="en-GB" dirty="0" smtClean="0"/>
              <a:t>Bias and fairness monitoring</a:t>
            </a:r>
          </a:p>
          <a:p>
            <a:r>
              <a:rPr lang="en-GB" dirty="0" smtClean="0"/>
              <a:t>Compliance approval</a:t>
            </a:r>
          </a:p>
          <a:p>
            <a:r>
              <a:rPr lang="en-GB" dirty="0" smtClean="0"/>
              <a:t>Model validation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323528" y="5805264"/>
            <a:ext cx="80648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Human oversight ensures fairness, transparency, and responsible financial decision-making.</a:t>
            </a: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436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>
            <a:normAutofit/>
          </a:bodyPr>
          <a:lstStyle/>
          <a:p>
            <a:r>
              <a:rPr lang="en-IN" sz="4000" b="1" dirty="0" smtClean="0"/>
              <a:t>Responsible AI Safeguards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556792"/>
            <a:ext cx="8496944" cy="5112568"/>
          </a:xfrm>
        </p:spPr>
        <p:txBody>
          <a:bodyPr>
            <a:normAutofit lnSpcReduction="10000"/>
          </a:bodyPr>
          <a:lstStyle/>
          <a:p>
            <a:r>
              <a:rPr lang="en-GB" sz="2800" dirty="0" smtClean="0"/>
              <a:t>Regular bias monitoring across customer groups</a:t>
            </a:r>
          </a:p>
          <a:p>
            <a:r>
              <a:rPr lang="en-GB" sz="2800" dirty="0" smtClean="0"/>
              <a:t>Human review before severe collection actions</a:t>
            </a:r>
          </a:p>
          <a:p>
            <a:r>
              <a:rPr lang="en-IN" sz="2800" dirty="0" smtClean="0"/>
              <a:t>Transparent and explainable prediction logic</a:t>
            </a:r>
          </a:p>
          <a:p>
            <a:r>
              <a:rPr lang="en-GB" sz="2800" dirty="0" smtClean="0"/>
              <a:t>Secure protection of customer financial data</a:t>
            </a:r>
          </a:p>
          <a:p>
            <a:r>
              <a:rPr lang="en-GB" sz="2800" dirty="0" smtClean="0"/>
              <a:t>Continuous model monitoring and performance validation</a:t>
            </a:r>
          </a:p>
          <a:p>
            <a:endParaRPr lang="en-GB" sz="2800" dirty="0"/>
          </a:p>
          <a:p>
            <a:pPr marL="0" indent="0">
              <a:buNone/>
            </a:pPr>
            <a:endParaRPr lang="en-GB" sz="2800" b="1" dirty="0" smtClean="0"/>
          </a:p>
          <a:p>
            <a:pPr marL="0" indent="0">
              <a:buNone/>
            </a:pPr>
            <a:endParaRPr lang="en-GB" sz="2800" b="1" dirty="0" smtClean="0"/>
          </a:p>
          <a:p>
            <a:pPr marL="0" indent="0">
              <a:buNone/>
            </a:pPr>
            <a:r>
              <a:rPr lang="en-GB" sz="2800" b="1" dirty="0" smtClean="0"/>
              <a:t>Responsible AI practices improve trust, fairness, and regulatory compliance.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858398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904"/>
            <a:ext cx="8229600" cy="1143000"/>
          </a:xfrm>
        </p:spPr>
        <p:txBody>
          <a:bodyPr>
            <a:normAutofit/>
          </a:bodyPr>
          <a:lstStyle/>
          <a:p>
            <a:r>
              <a:rPr lang="en-IN" sz="4000" b="1" dirty="0" smtClean="0"/>
              <a:t>Expected Business Impact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b="1" dirty="0" smtClean="0"/>
              <a:t>Business KPIs</a:t>
            </a:r>
          </a:p>
          <a:p>
            <a:r>
              <a:rPr lang="en-GB" sz="2400" dirty="0" smtClean="0"/>
              <a:t>Reduced delinquency rates </a:t>
            </a:r>
          </a:p>
          <a:p>
            <a:r>
              <a:rPr lang="en-GB" sz="2400" dirty="0" smtClean="0"/>
              <a:t>Lower collection costs </a:t>
            </a:r>
          </a:p>
          <a:p>
            <a:r>
              <a:rPr lang="en-GB" sz="2400" dirty="0" smtClean="0"/>
              <a:t>Faster identification of high-risk customers </a:t>
            </a:r>
          </a:p>
          <a:p>
            <a:r>
              <a:rPr lang="en-GB" sz="2400" dirty="0" smtClean="0"/>
              <a:t>Improved operational efficiency </a:t>
            </a:r>
          </a:p>
          <a:p>
            <a:pPr marL="0" indent="0">
              <a:buNone/>
            </a:pPr>
            <a:endParaRPr lang="en-GB" sz="2400" dirty="0" smtClean="0"/>
          </a:p>
          <a:p>
            <a:pPr marL="0" indent="0">
              <a:buNone/>
            </a:pPr>
            <a:r>
              <a:rPr lang="en-GB" sz="2400" b="1" dirty="0" smtClean="0"/>
              <a:t>Customer Outcomes</a:t>
            </a:r>
          </a:p>
          <a:p>
            <a:r>
              <a:rPr lang="en-GB" sz="2400" dirty="0" smtClean="0"/>
              <a:t>Earlier payment support </a:t>
            </a:r>
          </a:p>
          <a:p>
            <a:r>
              <a:rPr lang="en-GB" sz="2400" dirty="0" smtClean="0"/>
              <a:t>Improved customer communication </a:t>
            </a:r>
          </a:p>
          <a:p>
            <a:r>
              <a:rPr lang="en-GB" sz="2400" dirty="0" smtClean="0"/>
              <a:t>Fairer collection practices </a:t>
            </a:r>
          </a:p>
          <a:p>
            <a:r>
              <a:rPr lang="en-GB" sz="2400" dirty="0" smtClean="0"/>
              <a:t>Better customer experience</a:t>
            </a:r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79512" y="5805264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AI-powered collections can help </a:t>
            </a:r>
            <a:r>
              <a:rPr lang="en-GB" sz="2400" b="1" dirty="0" err="1" smtClean="0"/>
              <a:t>Geldium</a:t>
            </a:r>
            <a:r>
              <a:rPr lang="en-GB" sz="2400" b="1" dirty="0" smtClean="0"/>
              <a:t> improve repayment outcomes while maintaining fairness and transparency.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8059867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154</TotalTime>
  <Words>172</Words>
  <Application>Microsoft Office PowerPoint</Application>
  <PresentationFormat>On-screen Show (4:3)</PresentationFormat>
  <Paragraphs>50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Adjacency</vt:lpstr>
      <vt:lpstr>AI-Driven Collections Strategy for Geldium</vt:lpstr>
      <vt:lpstr>How the AI Collections System Works</vt:lpstr>
      <vt:lpstr>Autonomous vs Human Oversight Activities</vt:lpstr>
      <vt:lpstr>Responsible AI Safeguards</vt:lpstr>
      <vt:lpstr>Expected Business Impact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Collections Strategy for Geldium</dc:title>
  <dc:creator>DELL</dc:creator>
  <cp:lastModifiedBy>DELL</cp:lastModifiedBy>
  <cp:revision>9</cp:revision>
  <dcterms:created xsi:type="dcterms:W3CDTF">2026-05-19T06:27:34Z</dcterms:created>
  <dcterms:modified xsi:type="dcterms:W3CDTF">2026-05-19T09:01:58Z</dcterms:modified>
</cp:coreProperties>
</file>